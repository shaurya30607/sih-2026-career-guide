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ncvet.gov.in/national-skills-qualification-framework/" TargetMode="External"/><Relationship Id="rId5" Type="http://schemas.openxmlformats.org/officeDocument/2006/relationships/hyperlink" Target="https://www.msde.gov.in/" TargetMode="External"/><Relationship Id="rId6" Type="http://schemas.openxmlformats.org/officeDocument/2006/relationships/hyperlink" Target="https://dgt.gov.in/en/CTS" TargetMode="External"/><Relationship Id="rId7" Type="http://schemas.openxmlformats.org/officeDocument/2006/relationships/hyperlink" Target="https://www.ncs.gov.in/" TargetMode="External"/><Relationship Id="rId8" Type="http://schemas.openxmlformats.org/officeDocument/2006/relationships/hyperlink" Target="https://bharatskill.gov.in/" TargetMode="External"/><Relationship Id="rId9" Type="http://schemas.openxmlformats.org/officeDocument/2006/relationships/image" Target="../media/image25.png"/><Relationship Id="rId10" Type="http://schemas.openxmlformats.org/officeDocument/2006/relationships/image" Target="../media/image17.png"/><Relationship Id="rId11" Type="http://schemas.openxmlformats.org/officeDocument/2006/relationships/image" Target="../media/image23.png"/><Relationship Id="rId12" Type="http://schemas.openxmlformats.org/officeDocument/2006/relationships/hyperlink" Target="https://doi.org/10.1016/j.jvb.2009.03.005" TargetMode="External"/><Relationship Id="rId13" Type="http://schemas.openxmlformats.org/officeDocument/2006/relationships/hyperlink" Target="https://bharatskills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57200" y="1078992"/>
            <a:ext cx="10241280" cy="777240"/>
          </a:xfrm>
        </p:spPr>
        <p:txBody>
          <a:bodyPr wrap="square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0B132B"/>
                </a:solidFill>
                <a:latin typeface="Arial"/>
              </a:rPr>
              <a:t>SkillSaathi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500" b="1">
                <a:solidFill>
                  <a:srgbClr val="0D9488"/>
                </a:solidFill>
                <a:latin typeface="Arial"/>
              </a:rPr>
              <a:t>From Career Confusion to Family Consensus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320040"/>
            <a:ext cx="10241280" cy="685800"/>
          </a:xfrm>
        </p:spPr>
        <p:txBody>
          <a:bodyPr wrap="square"/>
          <a:lstStyle/>
          <a:p>
            <a:pPr algn="ctr"/>
            <a:r>
              <a:rPr sz="3800" b="1">
                <a:solidFill>
                  <a:srgbClr val="1F4E79"/>
                </a:solidFill>
                <a:latin typeface="Garamond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5486400" cy="4297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0B132B"/>
                </a:solidFill>
                <a:latin typeface="Arial"/>
              </a:rPr>
              <a:t>•  Problem Statement ID – </a:t>
            </a:r>
            <a:r>
              <a:rPr sz="1700" b="1">
                <a:solidFill>
                  <a:srgbClr val="1E293B"/>
                </a:solidFill>
                <a:latin typeface="Arial"/>
              </a:rPr>
              <a:t>26241</a:t>
            </a:r>
            <a:endParaRPr lang="en-US" dirty="0"/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0B132B"/>
                </a:solidFill>
                <a:latin typeface="Arial"/>
              </a:rPr>
              <a:t>•  Problem Statement Title – </a:t>
            </a:r>
            <a:r>
              <a:rPr sz="1700" b="0">
                <a:solidFill>
                  <a:srgbClr val="1E293B"/>
                </a:solidFill>
                <a:latin typeface="Arial"/>
              </a:rPr>
              <a:t>AI-Enabled Career Counselling and Family Decision-Support Platform for Vocational Education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0B132B"/>
                </a:solidFill>
                <a:latin typeface="Arial"/>
              </a:rPr>
              <a:t>•  Theme – </a:t>
            </a:r>
            <a:r>
              <a:rPr sz="1700" b="0">
                <a:solidFill>
                  <a:srgbClr val="0D9488"/>
                </a:solidFill>
                <a:latin typeface="Arial"/>
              </a:rPr>
              <a:t>Smart Education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0B132B"/>
                </a:solidFill>
                <a:latin typeface="Arial"/>
              </a:rPr>
              <a:t>•  PS Category – </a:t>
            </a:r>
            <a:r>
              <a:rPr sz="1700" b="0">
                <a:solidFill>
                  <a:srgbClr val="1E293B"/>
                </a:solidFill>
                <a:latin typeface="Arial"/>
              </a:rPr>
              <a:t>Software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0B132B"/>
                </a:solidFill>
                <a:latin typeface="Arial"/>
              </a:rPr>
              <a:t>•  Team ID – </a:t>
            </a:r>
            <a:r>
              <a:rPr sz="1700" b="0">
                <a:solidFill>
                  <a:srgbClr val="1E293B"/>
                </a:solidFill>
                <a:latin typeface="Arial"/>
              </a:rPr>
              <a:t>[To Be Added]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0B132B"/>
                </a:solidFill>
                <a:latin typeface="Arial"/>
              </a:rPr>
              <a:t>•  Team Name (Registered on portal) – </a:t>
            </a:r>
            <a:r>
              <a:rPr sz="1700" b="1">
                <a:solidFill>
                  <a:srgbClr val="1E293B"/>
                </a:solidFill>
                <a:latin typeface="Arial"/>
              </a:rPr>
              <a:t>TeamChargers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731520" y="292608"/>
            <a:ext cx="150876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32B"/>
                </a:solidFill>
              </a:rPr>
              <a:t>TeamChargers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56032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B132B"/>
                </a:solidFill>
                <a:latin typeface="Georgia"/>
              </a:rPr>
              <a:t>IDEA TITLE: </a:t>
            </a:r>
            <a:r>
              <a:rPr b="1" sz="2100">
                <a:solidFill>
                  <a:srgbClr val="0B132B"/>
                </a:solidFill>
              </a:rPr>
              <a:t>SkillSaathi  </a:t>
            </a:r>
            <a:r>
              <a:rPr i="1" sz="1300">
                <a:solidFill>
                  <a:srgbClr val="0D9488"/>
                </a:solidFill>
              </a:rPr>
              <a:t>— Beyond Career Advice. Towards Family Consensus.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731520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475569"/>
                </a:solidFill>
              </a:rPr>
              <a:t>An AI-powered family counselling platform that bridges student aspirations and parental concerns through evidence-backed vocational guidance.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115568"/>
            <a:ext cx="10728655" cy="17190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152144"/>
            <a:ext cx="5486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850">
                <a:solidFill>
                  <a:srgbClr val="0B132B"/>
                </a:solidFill>
              </a:rPr>
              <a:t>PROPOSED SOLUTION: FAMILY DECISION INTELLIGENCE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152144"/>
            <a:ext cx="4800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800">
                <a:solidFill>
                  <a:srgbClr val="0F766E"/>
                </a:solidFill>
              </a:rPr>
              <a:t>🌐 English + Regional Language  |  Simple, Family-Friendly Guidance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1408176"/>
            <a:ext cx="19659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b="1" sz="900">
                <a:solidFill>
                  <a:srgbClr val="0B132B"/>
                </a:solidFill>
              </a:rPr>
              <a:t>Student Aspirations
</a:t>
            </a:r>
            <a:r>
              <a:rPr sz="750">
                <a:solidFill>
                  <a:srgbClr val="475569"/>
                </a:solidFill>
              </a:rPr>
              <a:t>Interests, Aptitude &amp; Ambitions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2121408"/>
            <a:ext cx="19659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b="1" sz="900">
                <a:solidFill>
                  <a:srgbClr val="0B132B"/>
                </a:solidFill>
              </a:rPr>
              <a:t>Parent Concerns
</a:t>
            </a:r>
            <a:r>
              <a:rPr sz="750">
                <a:solidFill>
                  <a:srgbClr val="475569"/>
                </a:solidFill>
              </a:rPr>
              <a:t>Financial Security, ROI &amp; Stability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1536192"/>
            <a:ext cx="256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9488"/>
                </a:solidFill>
              </a:rPr>
              <a:t>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2249424"/>
            <a:ext cx="256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9488"/>
                </a:solidFill>
              </a:rPr>
              <a:t>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27248" y="1408176"/>
            <a:ext cx="2331720" cy="13350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b="1" sz="919">
                <a:solidFill>
                  <a:srgbClr val="0B132B"/>
                </a:solidFill>
              </a:rPr>
              <a:t>AI FAMILY COUNSELLING
</a:t>
            </a:r>
            <a:r>
              <a:rPr b="1" sz="780">
                <a:solidFill>
                  <a:srgbClr val="0F766E"/>
                </a:solidFill>
              </a:rPr>
              <a:t>Dual-Persona Dialogue Mediation
</a:t>
            </a:r>
          </a:p>
          <a:p>
            <a:pPr algn="l">
              <a:spcBef>
                <a:spcPts val="300"/>
              </a:spcBef>
            </a:pPr>
            <a:r>
              <a:rPr sz="720">
                <a:solidFill>
                  <a:srgbClr val="475569"/>
                </a:solidFill>
              </a:rPr>
              <a:t>• Identifies stated concerns &amp; priorities
• Synthesizes passion with practical ROI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1920240"/>
            <a:ext cx="256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79008" y="1408176"/>
            <a:ext cx="2450592" cy="13350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b="1" sz="919">
                <a:solidFill>
                  <a:srgbClr val="0B132B"/>
                </a:solidFill>
              </a:rPr>
              <a:t>CAREER COMPARISON
</a:t>
            </a:r>
            <a:r>
              <a:rPr b="1" sz="780">
                <a:solidFill>
                  <a:srgbClr val="0F766E"/>
                </a:solidFill>
              </a:rPr>
              <a:t>Evidence-Based Benchmarking
</a:t>
            </a:r>
          </a:p>
          <a:p>
            <a:pPr algn="l">
              <a:spcBef>
                <a:spcPts val="300"/>
              </a:spcBef>
            </a:pPr>
            <a:r>
              <a:rPr sz="720">
                <a:solidFill>
                  <a:srgbClr val="475569"/>
                </a:solidFill>
              </a:rPr>
              <a:t>• NSQF-aligned qualifications &amp; training
• Proposed placement &amp; salary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1920240"/>
            <a:ext cx="256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0496" y="1408176"/>
            <a:ext cx="2724912" cy="13350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/>
            <a:r>
              <a:rPr b="1" sz="919">
                <a:solidFill>
                  <a:srgbClr val="0B132B"/>
                </a:solidFill>
              </a:rPr>
              <a:t>INFORMED FAMILY DECISION
</a:t>
            </a:r>
            <a:r>
              <a:rPr b="1" sz="780">
                <a:solidFill>
                  <a:srgbClr val="0F766E"/>
                </a:solidFill>
              </a:rPr>
              <a:t>Consensus &amp; Career Clarity
</a:t>
            </a:r>
          </a:p>
          <a:p>
            <a:pPr algn="l">
              <a:spcBef>
                <a:spcPts val="300"/>
              </a:spcBef>
            </a:pPr>
            <a:r>
              <a:rPr sz="720">
                <a:solidFill>
                  <a:srgbClr val="475569"/>
                </a:solidFill>
              </a:rPr>
              <a:t>• Aligned student-parent commitment
• Planned pre/post confidence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907792"/>
            <a:ext cx="107286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00">
                <a:solidFill>
                  <a:srgbClr val="0B132B"/>
                </a:solidFill>
              </a:rPr>
              <a:t>INNOVATION &amp; UNIQUENESS — WHY SKILLSAATHI?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182112"/>
            <a:ext cx="5230368" cy="1499616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3246120"/>
            <a:ext cx="4343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50">
                <a:solidFill>
                  <a:srgbClr val="0B132B"/>
                </a:solidFill>
              </a:rPr>
              <a:t>01. Family Consensus Intelligence ★ FLAGSHIP USP
</a:t>
            </a:r>
            <a:r>
              <a:rPr sz="750">
                <a:solidFill>
                  <a:srgbClr val="475569"/>
                </a:solidFill>
              </a:rPr>
              <a:t>Identifies family disagreements, addresses parental objections, and tracks changes in family confidence.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6944" y="3264408"/>
            <a:ext cx="566928" cy="4572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841248" y="3931920"/>
            <a:ext cx="501091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4400" y="4005072"/>
            <a:ext cx="1389888" cy="493776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50">
                <a:solidFill>
                  <a:srgbClr val="92400E"/>
                </a:solidFill>
              </a:rPr>
              <a:t>Identify Disagreements
</a:t>
            </a:r>
            <a:r>
              <a:rPr sz="680">
                <a:solidFill>
                  <a:srgbClr val="92400E"/>
                </a:solidFill>
              </a:rPr>
              <a:t>Student vs Parent 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22576" y="4078224"/>
            <a:ext cx="201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42032" y="4005072"/>
            <a:ext cx="1536192" cy="493776"/>
          </a:xfrm>
          <a:prstGeom prst="roundRect">
            <a:avLst/>
          </a:prstGeom>
          <a:solidFill>
            <a:srgbClr val="F0FDFA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50">
                <a:solidFill>
                  <a:srgbClr val="0F766E"/>
                </a:solidFill>
              </a:rPr>
              <a:t>Compare Trade-Offs
</a:t>
            </a:r>
            <a:r>
              <a:rPr sz="680">
                <a:solidFill>
                  <a:srgbClr val="0F766E"/>
                </a:solidFill>
              </a:rPr>
              <a:t>Evidence Fact-Checking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96512" y="4078224"/>
            <a:ext cx="2011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6" y="4005072"/>
            <a:ext cx="1517904" cy="493776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50">
                <a:solidFill>
                  <a:srgbClr val="166534"/>
                </a:solidFill>
              </a:rPr>
              <a:t>Shared Family Decision
</a:t>
            </a:r>
            <a:r>
              <a:rPr sz="680">
                <a:solidFill>
                  <a:srgbClr val="166534"/>
                </a:solidFill>
              </a:rPr>
              <a:t>Pre/Post Confidence Track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27064" y="3182112"/>
            <a:ext cx="5230368" cy="149961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6792" y="3246120"/>
            <a:ext cx="4343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50">
                <a:solidFill>
                  <a:srgbClr val="0B132B"/>
                </a:solidFill>
              </a:rPr>
              <a:t>02. Hyperlocal Career Reality Engine
</a:t>
            </a:r>
            <a:r>
              <a:rPr sz="750">
                <a:solidFill>
                  <a:srgbClr val="475569"/>
                </a:solidFill>
              </a:rPr>
              <a:t>Connects vocational choices to regional earnings, placement outcomes, and accredited training pathways.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17352" y="3255264"/>
            <a:ext cx="502920" cy="54864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6336792" y="3931920"/>
            <a:ext cx="501091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9944" y="4005072"/>
            <a:ext cx="1188720" cy="49377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50">
                <a:solidFill>
                  <a:srgbClr val="075985"/>
                </a:solidFill>
              </a:rPr>
              <a:t>📍 District Cluster
</a:t>
            </a:r>
            <a:r>
              <a:rPr sz="680">
                <a:solidFill>
                  <a:srgbClr val="075985"/>
                </a:solidFill>
              </a:rPr>
              <a:t>Local ITI &amp; Hubs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6952" y="4078224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18120" y="4005072"/>
            <a:ext cx="1078992" cy="493776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50">
                <a:solidFill>
                  <a:srgbClr val="0B132B"/>
                </a:solidFill>
              </a:rPr>
              <a:t>₹ Regional Wages
</a:t>
            </a:r>
            <a:r>
              <a:rPr sz="680">
                <a:solidFill>
                  <a:srgbClr val="475569"/>
                </a:solidFill>
              </a:rPr>
              <a:t>Estimated Wage Data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51976" y="4005072"/>
            <a:ext cx="1115568" cy="493776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50">
                <a:solidFill>
                  <a:srgbClr val="0B132B"/>
                </a:solidFill>
              </a:rPr>
              <a:t>Placement Trends
</a:t>
            </a:r>
            <a:r>
              <a:rPr sz="680">
                <a:solidFill>
                  <a:srgbClr val="475569"/>
                </a:solidFill>
              </a:rPr>
              <a:t>Proposed Sources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22408" y="4005072"/>
            <a:ext cx="1152144" cy="493776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50">
                <a:solidFill>
                  <a:srgbClr val="0B132B"/>
                </a:solidFill>
              </a:rPr>
              <a:t>NSQF Pathway
</a:t>
            </a:r>
            <a:r>
              <a:rPr sz="680">
                <a:solidFill>
                  <a:srgbClr val="475569"/>
                </a:solidFill>
              </a:rPr>
              <a:t>ITI → Poly → B.Voc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4754880"/>
            <a:ext cx="5230368" cy="149961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" y="4818888"/>
            <a:ext cx="4343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50">
                <a:solidFill>
                  <a:srgbClr val="0B132B"/>
                </a:solidFill>
              </a:rPr>
              <a:t>03. Explainable Career Trade-off Engine
</a:t>
            </a:r>
            <a:r>
              <a:rPr sz="750">
                <a:solidFill>
                  <a:srgbClr val="475569"/>
                </a:solidFill>
              </a:rPr>
              <a:t>Compares career options based on family priorities, training costs, earnings, and NSQF progression.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5232" y="4828032"/>
            <a:ext cx="548640" cy="45720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841248" y="5504688"/>
            <a:ext cx="501091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14400" y="5577840"/>
            <a:ext cx="1152144" cy="493776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50">
                <a:solidFill>
                  <a:srgbClr val="0B132B"/>
                </a:solidFill>
              </a:rPr>
              <a:t>Family Priorities
</a:t>
            </a:r>
            <a:r>
              <a:rPr sz="680">
                <a:solidFill>
                  <a:srgbClr val="475569"/>
                </a:solidFill>
              </a:rPr>
              <a:t>Budget &amp; Values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121408" y="5577840"/>
            <a:ext cx="1152144" cy="493776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50">
                <a:solidFill>
                  <a:srgbClr val="0B132B"/>
                </a:solidFill>
              </a:rPr>
              <a:t>Training Cost
</a:t>
            </a:r>
            <a:r>
              <a:rPr sz="680">
                <a:solidFill>
                  <a:srgbClr val="475569"/>
                </a:solidFill>
              </a:rPr>
              <a:t>Fees vs Subsidy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28416" y="5577840"/>
            <a:ext cx="1188720" cy="493776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50">
                <a:solidFill>
                  <a:srgbClr val="0B132B"/>
                </a:solidFill>
              </a:rPr>
              <a:t>Training Duration
</a:t>
            </a:r>
            <a:r>
              <a:rPr sz="680">
                <a:solidFill>
                  <a:srgbClr val="475569"/>
                </a:solidFill>
              </a:rPr>
              <a:t>Time-to-Earn Clarity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0" y="5577840"/>
            <a:ext cx="1207008" cy="493776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50">
                <a:solidFill>
                  <a:srgbClr val="0B132B"/>
                </a:solidFill>
              </a:rPr>
              <a:t>NSQF Pathway
</a:t>
            </a:r>
            <a:r>
              <a:rPr sz="680">
                <a:solidFill>
                  <a:srgbClr val="475569"/>
                </a:solidFill>
              </a:rPr>
              <a:t>Progression Options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4754880"/>
            <a:ext cx="5230368" cy="149961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36792" y="4818888"/>
            <a:ext cx="4343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50">
                <a:solidFill>
                  <a:srgbClr val="0B132B"/>
                </a:solidFill>
              </a:rPr>
              <a:t>04. Parental Resistance Intelligence
</a:t>
            </a:r>
            <a:r>
              <a:rPr sz="750">
                <a:solidFill>
                  <a:srgbClr val="475569"/>
                </a:solidFill>
              </a:rPr>
              <a:t>Transforms counselling concerns into aggregated insights and escalation pathways for scheme administrators.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44784" y="4828032"/>
            <a:ext cx="502920" cy="475488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6336792" y="5504688"/>
            <a:ext cx="501091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409944" y="5577840"/>
            <a:ext cx="1463040" cy="493776"/>
          </a:xfrm>
          <a:prstGeom prst="roundRect">
            <a:avLst/>
          </a:prstGeom>
          <a:solidFill>
            <a:srgbClr val="FF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50">
                <a:solidFill>
                  <a:srgbClr val="9F1239"/>
                </a:solidFill>
              </a:rPr>
              <a:t>Unresolved Hesitation
</a:t>
            </a:r>
            <a:r>
              <a:rPr sz="680">
                <a:solidFill>
                  <a:srgbClr val="9F1239"/>
                </a:solidFill>
              </a:rPr>
              <a:t>Stigma / Financial Anxiety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60" y="5650992"/>
            <a:ext cx="18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29016" y="5577840"/>
            <a:ext cx="1536192" cy="49377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50">
                <a:solidFill>
                  <a:srgbClr val="075985"/>
                </a:solidFill>
              </a:rPr>
              <a:t>Human Counsellor Routing
</a:t>
            </a:r>
            <a:r>
              <a:rPr sz="680">
                <a:solidFill>
                  <a:srgbClr val="075985"/>
                </a:solidFill>
              </a:rPr>
              <a:t>1-on-1 Escalation Hand-off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01784" y="5650992"/>
            <a:ext cx="164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D9488"/>
                </a:solidFill>
              </a:rPr>
              <a:t>+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02951" y="5577840"/>
            <a:ext cx="1371600" cy="493776"/>
          </a:xfrm>
          <a:prstGeom prst="roundRect">
            <a:avLst/>
          </a:prstGeom>
          <a:solidFill>
            <a:srgbClr val="F0FDFA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50">
                <a:solidFill>
                  <a:srgbClr val="0F766E"/>
                </a:solidFill>
              </a:rPr>
              <a:t>Admin Heatmaps
</a:t>
            </a:r>
            <a:r>
              <a:rPr sz="680">
                <a:solidFill>
                  <a:srgbClr val="0F766E"/>
                </a:solidFill>
              </a:rPr>
              <a:t>Participating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10"/>
          <p:cNvSpPr/>
          <p:nvPr/>
        </p:nvSpPr>
        <p:spPr>
          <a:xfrm>
            <a:off x="731520" y="292608"/>
            <a:ext cx="150876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32B"/>
                </a:solidFill>
              </a:rPr>
              <a:t>TeamChargers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56032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132B"/>
                </a:solidFill>
                <a:latin typeface="Georgia"/>
              </a:rPr>
              <a:t>TECHNICAL APPROACH: </a:t>
            </a:r>
            <a:r>
              <a:rPr b="1" sz="1800">
                <a:solidFill>
                  <a:srgbClr val="0D9488"/>
                </a:solidFill>
              </a:rPr>
              <a:t>System Architecture &amp;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31520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0F766E"/>
                </a:solidFill>
              </a:rPr>
              <a:t>Proposed end-to-end architecture for evidence-grounded family career counselling.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133856"/>
            <a:ext cx="2395728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24912" y="1243584"/>
            <a:ext cx="274320" cy="27432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77440" y="1243584"/>
            <a:ext cx="292608" cy="2651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" y="1225296"/>
            <a:ext cx="1618488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750">
                <a:solidFill>
                  <a:srgbClr val="0F766E"/>
                </a:solidFill>
              </a:rPr>
              <a:t>STAGE 01 • React Frontend [Active]
</a:t>
            </a:r>
            <a:r>
              <a:rPr b="1" sz="1300">
                <a:solidFill>
                  <a:srgbClr val="0B132B"/>
                </a:solidFill>
              </a:rPr>
              <a:t>User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1920240"/>
            <a:ext cx="2139696" cy="14447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b="1" sz="880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React + TypeScript + Vite [Active]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Student &amp; Parent Intake Interfaces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Course Exploration &amp; Rule Matching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English, Hindi, Marathi Localization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11296" y="1133856"/>
            <a:ext cx="239572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04688" y="1243584"/>
            <a:ext cx="274320" cy="27432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75504" y="1243584"/>
            <a:ext cx="274320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639312" y="1225296"/>
            <a:ext cx="1618488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750">
                <a:solidFill>
                  <a:srgbClr val="0F766E"/>
                </a:solidFill>
              </a:rPr>
              <a:t>STAGE 02 • FastAPI Services [Planned]
</a:t>
            </a:r>
            <a:r>
              <a:rPr b="1" sz="1300">
                <a:solidFill>
                  <a:srgbClr val="0B132B"/>
                </a:solidFill>
              </a:rPr>
              <a:t>Backend &amp;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1920240"/>
            <a:ext cx="2139696" cy="14447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b="1" sz="880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FastAPI Architecture [Planned]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TypeScript Data Contracts Scaffold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Persistent Family Profiles &amp; Sessions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Planned Integration of Curated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1133856"/>
            <a:ext cx="2395728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29600" y="1243584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19088" y="1225296"/>
            <a:ext cx="1618488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750">
                <a:solidFill>
                  <a:srgbClr val="0F766E"/>
                </a:solidFill>
              </a:rPr>
              <a:t>STAGE 03 • Core Innovation [Proposed]
</a:t>
            </a:r>
            <a:r>
              <a:rPr b="1" sz="1300">
                <a:solidFill>
                  <a:srgbClr val="0B132B"/>
                </a:solidFill>
              </a:rPr>
              <a:t>AI Decision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1920240"/>
            <a:ext cx="2139696" cy="14447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b="1" sz="880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Evidence-Grounded AI Counselling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Student-Parent Disagreement Detection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Explainable Career Trade-offs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Pre/Post Confidence Assessment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704" y="1133856"/>
            <a:ext cx="239572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00232" y="1243584"/>
            <a:ext cx="329184" cy="30175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89720" y="1225296"/>
            <a:ext cx="1618488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750">
                <a:solidFill>
                  <a:srgbClr val="0F766E"/>
                </a:solidFill>
              </a:rPr>
              <a:t>STAGE 04 • Action &amp; Governance [Proposed]
</a:t>
            </a:r>
            <a:r>
              <a:rPr b="1" sz="1300">
                <a:solidFill>
                  <a:srgbClr val="0B132B"/>
                </a:solidFill>
              </a:rPr>
              <a:t>Outcomes &amp;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1920240"/>
            <a:ext cx="2139696" cy="144475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b="1" sz="880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Joint Family Decision Summary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Human Counsellor Escalation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Participating Family Analytics</a:t>
            </a:r>
          </a:p>
          <a:p>
            <a:pPr>
              <a:spcAft>
                <a:spcPts val="400"/>
              </a:spcAft>
            </a:pPr>
            <a:r>
              <a:rPr b="1" sz="880">
                <a:solidFill>
                  <a:srgbClr val="0D9488"/>
                </a:solidFill>
              </a:rPr>
              <a:t>• </a:t>
            </a:r>
            <a:r>
              <a:rPr sz="850">
                <a:solidFill>
                  <a:srgbClr val="475569"/>
                </a:solidFill>
              </a:rPr>
              <a:t>AI Quality Evaluation Planned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82112" y="2139696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600">
                <a:solidFill>
                  <a:srgbClr val="0D9488"/>
                </a:solidFill>
              </a:rPr>
              <a:t>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1888" y="2139696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600">
                <a:solidFill>
                  <a:srgbClr val="0D9488"/>
                </a:solidFill>
              </a:rPr>
              <a:t>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2139696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600">
                <a:solidFill>
                  <a:srgbClr val="0D9488"/>
                </a:solidFill>
              </a:rPr>
              <a:t>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720" y="3694176"/>
            <a:ext cx="347472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12064" tIns="91440"/>
          <a:lstStyle/>
          <a:p>
            <a:pPr algn="ctr"/>
            <a:r>
              <a:rPr b="1" sz="819">
                <a:solidFill>
                  <a:srgbClr val="0F766E"/>
                </a:solidFill>
              </a:rPr>
              <a:t>DATA GROUNDING ENGINE
</a:t>
            </a:r>
            <a:r>
              <a:rPr b="1" sz="750">
                <a:solidFill>
                  <a:srgbClr val="0B132B"/>
                </a:solidFill>
              </a:rPr>
              <a:t>Planned Integration of Curated Official Vocational Data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88736" y="3785615"/>
            <a:ext cx="310896" cy="43891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360920" y="3456432"/>
            <a:ext cx="2743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500">
                <a:solidFill>
                  <a:srgbClr val="0D9488"/>
                </a:solidFill>
              </a:rPr>
              <a:t>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3794760"/>
            <a:ext cx="1325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50">
                <a:solidFill>
                  <a:srgbClr val="475569"/>
                </a:solidFill>
              </a:rPr>
              <a:t>Official Benchmarks ➔
</a:t>
            </a:r>
            <a:r>
              <a:rPr i="1" sz="700">
                <a:solidFill>
                  <a:srgbClr val="64748B"/>
                </a:solidFill>
              </a:rPr>
              <a:t>(NCVET &amp; NCS Data)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480560"/>
            <a:ext cx="10728655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535424"/>
            <a:ext cx="7315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850">
                <a:solidFill>
                  <a:srgbClr val="0B132B"/>
                </a:solidFill>
              </a:rPr>
              <a:t>TECHNOLOGY STACK &amp; IMPLEMENTATION SCOPE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" y="4809744"/>
            <a:ext cx="2523744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b="1" sz="750">
                <a:solidFill>
                  <a:srgbClr val="0F766E"/>
                </a:solidFill>
              </a:rPr>
              <a:t>FRONTEND [ACTIVE IN CODE]
</a:t>
            </a:r>
            <a:r>
              <a:rPr b="1" sz="900">
                <a:solidFill>
                  <a:srgbClr val="0B132B"/>
                </a:solidFill>
              </a:rPr>
              <a:t>React, TypeScript, Vite
</a:t>
            </a:r>
          </a:p>
          <a:p>
            <a:pPr algn="l">
              <a:spcBef>
                <a:spcPts val="300"/>
              </a:spcBef>
            </a:pPr>
            <a:r>
              <a:rPr sz="720">
                <a:solidFill>
                  <a:srgbClr val="475569"/>
                </a:solidFill>
              </a:rPr>
              <a:t>Modular component library, student/parent intake forms, course explorer &amp; trilingual UI.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44952" y="4882896"/>
            <a:ext cx="256032" cy="256032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3557016" y="4809744"/>
            <a:ext cx="2523744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b="1" sz="750">
                <a:solidFill>
                  <a:srgbClr val="0F766E"/>
                </a:solidFill>
              </a:rPr>
              <a:t>BACKEND [PLANNED ARCHITECTURE]
</a:t>
            </a:r>
            <a:r>
              <a:rPr b="1" sz="900">
                <a:solidFill>
                  <a:srgbClr val="0B132B"/>
                </a:solidFill>
              </a:rPr>
              <a:t>FastAPI (Planned)
</a:t>
            </a:r>
          </a:p>
          <a:p>
            <a:pPr algn="l">
              <a:spcBef>
                <a:spcPts val="300"/>
              </a:spcBef>
            </a:pPr>
            <a:r>
              <a:rPr sz="720">
                <a:solidFill>
                  <a:srgbClr val="475569"/>
                </a:solidFill>
              </a:rPr>
              <a:t>TypeScript data contracts &amp; REST client scaffold implemented; FastAPI/Pydantic backend planned.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45352" y="4809744"/>
            <a:ext cx="2523744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b="1" sz="750">
                <a:solidFill>
                  <a:srgbClr val="0F766E"/>
                </a:solidFill>
              </a:rPr>
              <a:t>AI &amp; DATA [PROPOSED LOGIC]
</a:t>
            </a:r>
            <a:r>
              <a:rPr b="1" sz="900">
                <a:solidFill>
                  <a:srgbClr val="0B132B"/>
                </a:solidFill>
              </a:rPr>
              <a:t>Grounded AI + Curated Data
</a:t>
            </a:r>
          </a:p>
          <a:p>
            <a:pPr algn="l">
              <a:spcBef>
                <a:spcPts val="300"/>
              </a:spcBef>
            </a:pPr>
            <a:r>
              <a:rPr sz="720">
                <a:solidFill>
                  <a:srgbClr val="475569"/>
                </a:solidFill>
              </a:rPr>
              <a:t>Evidence-grounded counselling proposed using verified vocational standards; local baseline data in prototype.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33688" y="4809744"/>
            <a:ext cx="2523744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/>
            <a:r>
              <a:rPr b="1" sz="750">
                <a:solidFill>
                  <a:srgbClr val="0F766E"/>
                </a:solidFill>
              </a:rPr>
              <a:t>OUTPUTS [PROPOSED SYSTEM]
</a:t>
            </a:r>
            <a:r>
              <a:rPr b="1" sz="900">
                <a:solidFill>
                  <a:srgbClr val="0B132B"/>
                </a:solidFill>
              </a:rPr>
              <a:t>Counselling &amp; Analytics
</a:t>
            </a:r>
          </a:p>
          <a:p>
            <a:pPr algn="l">
              <a:spcBef>
                <a:spcPts val="300"/>
              </a:spcBef>
            </a:pPr>
            <a:r>
              <a:rPr sz="720">
                <a:solidFill>
                  <a:srgbClr val="475569"/>
                </a:solidFill>
              </a:rPr>
              <a:t>Joint decision summaries, human escalation handoff, and participating family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10"/>
          <p:cNvSpPr/>
          <p:nvPr/>
        </p:nvSpPr>
        <p:spPr>
          <a:xfrm>
            <a:off x="731520" y="292608"/>
            <a:ext cx="150876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32B"/>
                </a:solidFill>
              </a:rPr>
              <a:t>TeamChargers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56032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B132B"/>
                </a:solidFill>
                <a:latin typeface="Georgia"/>
              </a:rPr>
              <a:t>FEASIBILITY AND VIABILITY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31520"/>
            <a:ext cx="77724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0F766E"/>
                </a:solidFill>
              </a:rPr>
              <a:t>Execution Roadmap &amp; Risk Mitigation — </a:t>
            </a:r>
            <a:r>
              <a:rPr sz="950">
                <a:solidFill>
                  <a:srgbClr val="475569"/>
                </a:solidFill>
              </a:rPr>
              <a:t>Demonstrating practical implementation through a 3-phase progression, grounded data controls, and modular architecture.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078992"/>
            <a:ext cx="5897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B132B"/>
                </a:solidFill>
              </a:rPr>
              <a:t>SECTION 1: 3-PHASE IMPLEMENTATION ROADMAP</a:t>
            </a:r>
            <a:r>
              <a:rPr sz="800" i="1">
                <a:solidFill>
                  <a:srgbClr val="0D9488"/>
                </a:solidFill>
              </a:rPr>
              <a:t>   [ From Live Prototype to Phased Field Deployment 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353312"/>
            <a:ext cx="5897880" cy="1243584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1463040"/>
            <a:ext cx="384048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/>
          <a:lstStyle/>
          <a:p>
            <a:pPr algn="ctr"/>
            <a:r>
              <a:rPr b="1" sz="100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1426464"/>
            <a:ext cx="4389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1100">
                <a:solidFill>
                  <a:srgbClr val="0B132B"/>
                </a:solidFill>
              </a:rPr>
              <a:t>PHASE 01 — FOUNDATION  </a:t>
            </a:r>
            <a:r>
              <a:rPr b="1" sz="750">
                <a:solidFill>
                  <a:srgbClr val="166534"/>
                </a:solidFill>
              </a:rPr>
              <a:t>[ ACTIVE IN CODE ]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755648"/>
            <a:ext cx="658368" cy="43891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80160" y="1682496"/>
            <a:ext cx="4526280" cy="8412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b="1" sz="819">
                <a:solidFill>
                  <a:srgbClr val="0B132B"/>
                </a:solidFill>
              </a:rPr>
              <a:t>• React + TypeScript Frontend: </a:t>
            </a:r>
            <a:r>
              <a:rPr sz="780">
                <a:solidFill>
                  <a:srgbClr val="475569"/>
                </a:solidFill>
              </a:rPr>
              <a:t>Operational responsive UI, student &amp; parent intake forms, trade explorer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B132B"/>
                </a:solidFill>
              </a:rPr>
              <a:t>• Trilingual Localization: </a:t>
            </a:r>
            <a:r>
              <a:rPr sz="780">
                <a:solidFill>
                  <a:srgbClr val="475569"/>
                </a:solidFill>
              </a:rPr>
              <a:t>English, Hindi &amp; Marathi interfaces implemented in frontend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B132B"/>
                </a:solidFill>
              </a:rPr>
              <a:t>• Course Exploration Engine: </a:t>
            </a:r>
            <a:r>
              <a:rPr sz="780">
                <a:solidFill>
                  <a:srgbClr val="475569"/>
                </a:solidFill>
              </a:rPr>
              <a:t>Course exploration using structured demonstration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798064"/>
            <a:ext cx="5897880" cy="12435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907792"/>
            <a:ext cx="384048" cy="2926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/>
          <a:lstStyle/>
          <a:p>
            <a:pPr algn="ctr"/>
            <a:r>
              <a:rPr b="1" sz="100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871216"/>
            <a:ext cx="4389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1100">
                <a:solidFill>
                  <a:srgbClr val="0B132B"/>
                </a:solidFill>
              </a:rPr>
              <a:t>PHASE 02 — INTELLIGENCE  </a:t>
            </a:r>
            <a:r>
              <a:rPr b="1" sz="750">
                <a:solidFill>
                  <a:srgbClr val="075985"/>
                </a:solidFill>
              </a:rPr>
              <a:t>[ PLANNED ARCHITECTURE ]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3168396"/>
            <a:ext cx="502920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80160" y="3127248"/>
            <a:ext cx="4526280" cy="8412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b="1" sz="819">
                <a:solidFill>
                  <a:srgbClr val="0B132B"/>
                </a:solidFill>
              </a:rPr>
              <a:t>• FastAPI Backend Integration (Planned): </a:t>
            </a:r>
            <a:r>
              <a:rPr sz="780">
                <a:solidFill>
                  <a:srgbClr val="475569"/>
                </a:solidFill>
              </a:rPr>
              <a:t>REST API client, session state persistence &amp; data contracts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B132B"/>
                </a:solidFill>
              </a:rPr>
              <a:t>• Evidence-Grounded AI Engine (Planned): </a:t>
            </a:r>
            <a:r>
              <a:rPr sz="780">
                <a:solidFill>
                  <a:srgbClr val="475569"/>
                </a:solidFill>
              </a:rPr>
              <a:t>Proposed counselling anchored to official qualification standards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B132B"/>
                </a:solidFill>
              </a:rPr>
              <a:t>• Family Disagreement &amp; Confidence Tracking: </a:t>
            </a:r>
            <a:r>
              <a:rPr sz="780">
                <a:solidFill>
                  <a:srgbClr val="475569"/>
                </a:solidFill>
              </a:rPr>
              <a:t>Planned consensus scoring &amp; objection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42816"/>
            <a:ext cx="5897880" cy="12435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4352544"/>
            <a:ext cx="384048" cy="29260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/>
          <a:lstStyle/>
          <a:p>
            <a:pPr algn="ctr"/>
            <a:r>
              <a:rPr b="1" sz="100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315968"/>
            <a:ext cx="438912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1100">
                <a:solidFill>
                  <a:srgbClr val="0B132B"/>
                </a:solidFill>
              </a:rPr>
              <a:t>PHASE 03 — DEPLOYMENT  </a:t>
            </a:r>
            <a:r>
              <a:rPr b="1" sz="750">
                <a:solidFill>
                  <a:srgbClr val="475569"/>
                </a:solidFill>
              </a:rPr>
              <a:t>[ FUTURE PILOT ROLLOUT ]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4599432"/>
            <a:ext cx="420624" cy="53035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80160" y="4572000"/>
            <a:ext cx="4526280" cy="8412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b="1" sz="819">
                <a:solidFill>
                  <a:srgbClr val="0B132B"/>
                </a:solidFill>
              </a:rPr>
              <a:t>• Rural Usability &amp; Vernacular Testing (Future): </a:t>
            </a:r>
            <a:r>
              <a:rPr sz="780">
                <a:solidFill>
                  <a:srgbClr val="475569"/>
                </a:solidFill>
              </a:rPr>
              <a:t>Field testing across diverse demographic cohorts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B132B"/>
                </a:solidFill>
              </a:rPr>
              <a:t>• Human Counsellor Escalation (Future): </a:t>
            </a:r>
            <a:r>
              <a:rPr sz="780">
                <a:solidFill>
                  <a:srgbClr val="475569"/>
                </a:solidFill>
              </a:rPr>
              <a:t>Automated triage routing complex family hesitation to experts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B132B"/>
                </a:solidFill>
              </a:rPr>
              <a:t>• Admin Analytics &amp; Pilot Testing (Future): </a:t>
            </a:r>
            <a:r>
              <a:rPr sz="780">
                <a:solidFill>
                  <a:srgbClr val="475569"/>
                </a:solidFill>
              </a:rPr>
              <a:t>Participating family insights for scheme planners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" y="2587752"/>
            <a:ext cx="2194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200">
                <a:solidFill>
                  <a:srgbClr val="0D9488"/>
                </a:solidFill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" y="4032504"/>
            <a:ext cx="2194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200">
                <a:solidFill>
                  <a:srgbClr val="0D9488"/>
                </a:solidFill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2" y="1078992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B132B"/>
                </a:solidFill>
              </a:rPr>
              <a:t>SECTION 2: CHALLENGES &amp; MITIGATION MATRIX</a:t>
            </a:r>
            <a:r>
              <a:rPr sz="800" i="1">
                <a:solidFill>
                  <a:srgbClr val="0D9488"/>
                </a:solidFill>
              </a:rPr>
              <a:t>   [ Technical Safeguards &amp; Risk Controls 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85432" y="1353312"/>
            <a:ext cx="4572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922008" y="1426464"/>
            <a:ext cx="54864" cy="585216"/>
          </a:xfrm>
          <a:prstGeom prst="round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1736" y="1517904"/>
            <a:ext cx="384048" cy="40233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70648" y="1417320"/>
            <a:ext cx="1691640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850">
                <a:solidFill>
                  <a:srgbClr val="0B132B"/>
                </a:solidFill>
              </a:rPr>
              <a:t>Limited Verified Data
</a:t>
            </a:r>
            <a:r>
              <a:rPr sz="700">
                <a:solidFill>
                  <a:srgbClr val="475569"/>
                </a:solidFill>
              </a:rPr>
              <a:t>Uncurated regional wage 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3144" y="1572768"/>
            <a:ext cx="2194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00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90888" y="1417320"/>
            <a:ext cx="1993392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850">
                <a:solidFill>
                  <a:srgbClr val="0F766E"/>
                </a:solidFill>
              </a:rPr>
              <a:t>Curated Official-Source Ingestion
</a:t>
            </a:r>
            <a:r>
              <a:rPr sz="700">
                <a:solidFill>
                  <a:srgbClr val="475569"/>
                </a:solidFill>
              </a:rPr>
              <a:t>Curated official-source ingestion; API access subject to availability.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85432" y="2185416"/>
            <a:ext cx="4572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922008" y="2258568"/>
            <a:ext cx="54864" cy="58521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1736" y="2350008"/>
            <a:ext cx="384048" cy="40233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470648" y="2249424"/>
            <a:ext cx="1691640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850">
                <a:solidFill>
                  <a:srgbClr val="0B132B"/>
                </a:solidFill>
              </a:rPr>
              <a:t>AI Hallucinations
</a:t>
            </a:r>
            <a:r>
              <a:rPr sz="700">
                <a:solidFill>
                  <a:srgbClr val="475569"/>
                </a:solidFill>
              </a:rPr>
              <a:t>Unverified claims or false guarantees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53144" y="2404872"/>
            <a:ext cx="2194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00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90888" y="2249424"/>
            <a:ext cx="1993392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850">
                <a:solidFill>
                  <a:srgbClr val="0F766E"/>
                </a:solidFill>
              </a:rPr>
              <a:t>Grounded Retrieval &amp; Evidence Checks
</a:t>
            </a:r>
            <a:r>
              <a:rPr sz="700">
                <a:solidFill>
                  <a:srgbClr val="475569"/>
                </a:solidFill>
              </a:rPr>
              <a:t>Source citations, evidence checks, evaluation and human escalation.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85432" y="3017520"/>
            <a:ext cx="4572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922008" y="3090672"/>
            <a:ext cx="54864" cy="585216"/>
          </a:xfrm>
          <a:prstGeom prst="roundRect">
            <a:avLst/>
          </a:prstGeom>
          <a:solidFill>
            <a:srgbClr val="07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1736" y="3182112"/>
            <a:ext cx="384048" cy="40233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470648" y="3081528"/>
            <a:ext cx="1691640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850">
                <a:solidFill>
                  <a:srgbClr val="0B132B"/>
                </a:solidFill>
              </a:rPr>
              <a:t>Language Barriers
</a:t>
            </a:r>
            <a:r>
              <a:rPr sz="700">
                <a:solidFill>
                  <a:srgbClr val="475569"/>
                </a:solidFill>
              </a:rPr>
              <a:t>Vernacular hesitation among rural parents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53144" y="3236976"/>
            <a:ext cx="2194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00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90888" y="3081528"/>
            <a:ext cx="1993392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850">
                <a:solidFill>
                  <a:srgbClr val="0F766E"/>
                </a:solidFill>
              </a:rPr>
              <a:t>Regional UI &amp; Simplified Terms
</a:t>
            </a:r>
            <a:r>
              <a:rPr sz="700">
                <a:solidFill>
                  <a:srgbClr val="475569"/>
                </a:solidFill>
              </a:rPr>
              <a:t>English/Hindi/Marathi UI tested with plain, family-friendly terms.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85432" y="3849624"/>
            <a:ext cx="4572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922008" y="3922776"/>
            <a:ext cx="54864" cy="585216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1736" y="4014216"/>
            <a:ext cx="384048" cy="40233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470648" y="3913632"/>
            <a:ext cx="1691640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850">
                <a:solidFill>
                  <a:srgbClr val="0B132B"/>
                </a:solidFill>
              </a:rPr>
              <a:t>Data Privacy Concerns
</a:t>
            </a:r>
            <a:r>
              <a:rPr sz="700">
                <a:solidFill>
                  <a:srgbClr val="475569"/>
                </a:solidFill>
              </a:rPr>
              <a:t>Sensitive family financial ambitions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53144" y="4069080"/>
            <a:ext cx="2194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00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90888" y="3913632"/>
            <a:ext cx="1993392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850">
                <a:solidFill>
                  <a:srgbClr val="0F766E"/>
                </a:solidFill>
              </a:rPr>
              <a:t>Consent Intake &amp; Minimal Retention
</a:t>
            </a:r>
            <a:r>
              <a:rPr sz="700">
                <a:solidFill>
                  <a:srgbClr val="475569"/>
                </a:solidFill>
              </a:rPr>
              <a:t>Planned access controls, consent, minimal retention and session testing.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85432" y="4681728"/>
            <a:ext cx="45720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922008" y="4754880"/>
            <a:ext cx="54864" cy="58521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31736" y="4846320"/>
            <a:ext cx="384048" cy="40233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470648" y="4745736"/>
            <a:ext cx="1691640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850">
                <a:solidFill>
                  <a:srgbClr val="0B132B"/>
                </a:solidFill>
              </a:rPr>
              <a:t>System Scalability
</a:t>
            </a:r>
            <a:r>
              <a:rPr sz="700">
                <a:solidFill>
                  <a:srgbClr val="475569"/>
                </a:solidFill>
              </a:rPr>
              <a:t>Traffic surges during admission cycles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53144" y="4901184"/>
            <a:ext cx="2194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00">
                <a:solidFill>
                  <a:srgbClr val="0D9488"/>
                </a:solidFill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90888" y="4745736"/>
            <a:ext cx="1993392" cy="585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850">
                <a:solidFill>
                  <a:srgbClr val="0F766E"/>
                </a:solidFill>
              </a:rPr>
              <a:t>Modular Backend Architecture
</a:t>
            </a:r>
            <a:r>
              <a:rPr sz="700">
                <a:solidFill>
                  <a:srgbClr val="475569"/>
                </a:solidFill>
              </a:rPr>
              <a:t>Modular backend architecture + phased pilot rollout.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5632704"/>
            <a:ext cx="10728655" cy="438912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wrap="none"/>
          <a:lstStyle/>
          <a:p>
            <a:pPr algn="ctr"/>
            <a:r>
              <a:rPr b="1" sz="980">
                <a:solidFill>
                  <a:srgbClr val="0B132B"/>
                </a:solidFill>
                <a:latin typeface="Georgia"/>
              </a:rPr>
              <a:t>FEASIBILITY PRINCIPLE:  </a:t>
            </a:r>
            <a:r>
              <a:rPr b="1" sz="980">
                <a:solidFill>
                  <a:srgbClr val="0F766E"/>
                </a:solidFill>
              </a:rPr>
              <a:t>Existing Frontend  +  Modular AI Architecture  +  Phased Deployment  =  Practical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10"/>
          <p:cNvSpPr/>
          <p:nvPr/>
        </p:nvSpPr>
        <p:spPr>
          <a:xfrm>
            <a:off x="731520" y="292608"/>
            <a:ext cx="150876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32B"/>
                </a:solidFill>
              </a:rPr>
              <a:t>TeamChargers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56032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B132B"/>
                </a:solidFill>
                <a:latin typeface="Georgia"/>
              </a:rPr>
              <a:t>IMPACT AND BENEFITS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731520"/>
            <a:ext cx="704088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000">
                <a:solidFill>
                  <a:srgbClr val="0F766E"/>
                </a:solidFill>
              </a:rPr>
              <a:t>Transforming Vocational Decision-Making — </a:t>
            </a:r>
            <a:r>
              <a:rPr sz="950">
                <a:solidFill>
                  <a:srgbClr val="475569"/>
                </a:solidFill>
              </a:rPr>
              <a:t>Replacing family hesitation with evidence-backed consensus, clear pathways, and institutional alignment.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731520"/>
            <a:ext cx="2697480" cy="25603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60">
                <a:solidFill>
                  <a:srgbClr val="0F766E"/>
                </a:solidFill>
              </a:rPr>
              <a:t>EXPECTED IMPACT — TO BE VALIDATED IN PILOT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097280"/>
            <a:ext cx="10728655" cy="124358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1152144"/>
            <a:ext cx="434340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1179576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50">
                <a:solidFill>
                  <a:srgbClr val="9F1239"/>
                </a:solidFill>
              </a:rPr>
              <a:t>BEFORE SKILLSAATHI  </a:t>
            </a:r>
            <a:r>
              <a:rPr sz="750" i="1">
                <a:solidFill>
                  <a:srgbClr val="475569"/>
                </a:solidFill>
              </a:rPr>
              <a:t>[ Current Hesitation Reality ]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1243584"/>
            <a:ext cx="621792" cy="5760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0976" y="1408176"/>
            <a:ext cx="3429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20"/>
              </a:spcAft>
            </a:pPr>
            <a:r>
              <a:rPr b="1" sz="900">
                <a:solidFill>
                  <a:srgbClr val="9F1239"/>
                </a:solidFill>
              </a:rPr>
              <a:t>• </a:t>
            </a:r>
            <a:r>
              <a:rPr b="1" sz="880">
                <a:solidFill>
                  <a:srgbClr val="0B132B"/>
                </a:solidFill>
              </a:rPr>
              <a:t>Career Confusion</a:t>
            </a:r>
          </a:p>
          <a:p>
            <a:pPr>
              <a:spcAft>
                <a:spcPts val="220"/>
              </a:spcAft>
            </a:pPr>
            <a:r>
              <a:rPr b="1" sz="900">
                <a:solidFill>
                  <a:srgbClr val="9F1239"/>
                </a:solidFill>
              </a:rPr>
              <a:t>• </a:t>
            </a:r>
            <a:r>
              <a:rPr b="1" sz="880">
                <a:solidFill>
                  <a:srgbClr val="0B132B"/>
                </a:solidFill>
              </a:rPr>
              <a:t>Parental Hesitation</a:t>
            </a:r>
          </a:p>
          <a:p>
            <a:pPr>
              <a:spcAft>
                <a:spcPts val="220"/>
              </a:spcAft>
            </a:pPr>
            <a:r>
              <a:rPr b="1" sz="900">
                <a:solidFill>
                  <a:srgbClr val="9F1239"/>
                </a:solidFill>
              </a:rPr>
              <a:t>• </a:t>
            </a:r>
            <a:r>
              <a:rPr b="1" sz="880">
                <a:solidFill>
                  <a:srgbClr val="0B132B"/>
                </a:solidFill>
              </a:rPr>
              <a:t>Uncertain Earnings</a:t>
            </a:r>
          </a:p>
          <a:p>
            <a:pPr>
              <a:spcAft>
                <a:spcPts val="220"/>
              </a:spcAft>
            </a:pPr>
            <a:r>
              <a:rPr b="1" sz="900">
                <a:solidFill>
                  <a:srgbClr val="9F1239"/>
                </a:solidFill>
              </a:rPr>
              <a:t>• </a:t>
            </a:r>
            <a:r>
              <a:rPr b="1" sz="880">
                <a:solidFill>
                  <a:srgbClr val="0B132B"/>
                </a:solidFill>
              </a:rPr>
              <a:t>Fragmented Guidance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1197864"/>
            <a:ext cx="1536192" cy="1042415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0F766E"/>
                </a:solidFill>
              </a:rPr>
              <a:t>SKILLSAATHI
</a:t>
            </a:r>
            <a:r>
              <a:rPr b="1" sz="1500">
                <a:solidFill>
                  <a:srgbClr val="0D9488"/>
                </a:solidFill>
              </a:rPr>
              <a:t>➔
</a:t>
            </a:r>
            <a:r>
              <a:rPr b="1" sz="720">
                <a:solidFill>
                  <a:srgbClr val="0B132B"/>
                </a:solidFill>
              </a:rPr>
              <a:t>AI Evidence Mediation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1152144"/>
            <a:ext cx="434340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4888" y="1179576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50">
                <a:solidFill>
                  <a:srgbClr val="0F766E"/>
                </a:solidFill>
              </a:rPr>
              <a:t>WITH SKILLSAATHI  </a:t>
            </a:r>
            <a:r>
              <a:rPr sz="750" i="1">
                <a:solidFill>
                  <a:srgbClr val="166534"/>
                </a:solidFill>
              </a:rPr>
              <a:t>[ Evidence-Backed Consensus ]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261872"/>
            <a:ext cx="658368" cy="4846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04888" y="1408176"/>
            <a:ext cx="3429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20"/>
              </a:spcAft>
            </a:pPr>
            <a:r>
              <a:rPr b="1" sz="900">
                <a:solidFill>
                  <a:srgbClr val="0D9488"/>
                </a:solidFill>
              </a:rPr>
              <a:t>• </a:t>
            </a:r>
            <a:r>
              <a:rPr b="1" sz="880">
                <a:solidFill>
                  <a:srgbClr val="0F766E"/>
                </a:solidFill>
              </a:rPr>
              <a:t>Clear Vocational Pathways</a:t>
            </a:r>
          </a:p>
          <a:p>
            <a:pPr>
              <a:spcAft>
                <a:spcPts val="220"/>
              </a:spcAft>
            </a:pPr>
            <a:r>
              <a:rPr b="1" sz="900">
                <a:solidFill>
                  <a:srgbClr val="0D9488"/>
                </a:solidFill>
              </a:rPr>
              <a:t>• </a:t>
            </a:r>
            <a:r>
              <a:rPr b="1" sz="880">
                <a:solidFill>
                  <a:srgbClr val="0F766E"/>
                </a:solidFill>
              </a:rPr>
              <a:t>Evidence-Backed Discussions</a:t>
            </a:r>
          </a:p>
          <a:p>
            <a:pPr>
              <a:spcAft>
                <a:spcPts val="220"/>
              </a:spcAft>
            </a:pPr>
            <a:r>
              <a:rPr b="1" sz="900">
                <a:solidFill>
                  <a:srgbClr val="0D9488"/>
                </a:solidFill>
              </a:rPr>
              <a:t>• </a:t>
            </a:r>
            <a:r>
              <a:rPr b="1" sz="880">
                <a:solidFill>
                  <a:srgbClr val="0F766E"/>
                </a:solidFill>
              </a:rPr>
              <a:t>Localized Career Insights</a:t>
            </a:r>
          </a:p>
          <a:p>
            <a:pPr>
              <a:spcAft>
                <a:spcPts val="220"/>
              </a:spcAft>
            </a:pPr>
            <a:r>
              <a:rPr b="1" sz="900">
                <a:solidFill>
                  <a:srgbClr val="0D9488"/>
                </a:solidFill>
              </a:rPr>
              <a:t>• </a:t>
            </a:r>
            <a:r>
              <a:rPr b="1" sz="880">
                <a:solidFill>
                  <a:srgbClr val="0F766E"/>
                </a:solidFill>
              </a:rPr>
              <a:t>Joint Family Counselling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450592"/>
            <a:ext cx="107286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B132B"/>
                </a:solidFill>
              </a:rPr>
              <a:t>SECTION 2: MULTI-STAKEHOLDER VALUE CREATION</a:t>
            </a:r>
            <a:r>
              <a:rPr sz="800" i="1">
                <a:solidFill>
                  <a:srgbClr val="0D9488"/>
                </a:solidFill>
              </a:rPr>
              <a:t>   [ Human-Centered Benefits Across the Vocational Skilling Ecosystem 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688336"/>
            <a:ext cx="2523744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" y="2743200"/>
            <a:ext cx="2377440" cy="3657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2834640"/>
            <a:ext cx="457200" cy="457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71600" y="2825496"/>
            <a:ext cx="17922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50">
                <a:solidFill>
                  <a:srgbClr val="0B132B"/>
                </a:solidFill>
              </a:rPr>
              <a:t>01 — STUDENTS
</a:t>
            </a:r>
            <a:r>
              <a:rPr b="1" sz="750">
                <a:solidFill>
                  <a:srgbClr val="0D9488"/>
                </a:solidFill>
              </a:rPr>
              <a:t>Career Clarity &amp; Opportunity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" y="3346704"/>
            <a:ext cx="22677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3465576"/>
            <a:ext cx="22677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b="1" sz="950">
                <a:solidFill>
                  <a:srgbClr val="0D9488"/>
                </a:solidFill>
              </a:rPr>
              <a:t>• </a:t>
            </a:r>
            <a:r>
              <a:rPr b="1" sz="880">
                <a:solidFill>
                  <a:srgbClr val="0B132B"/>
                </a:solidFill>
              </a:rPr>
              <a:t>Personalized career clarity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0D9488"/>
                </a:solidFill>
              </a:rPr>
              <a:t>• </a:t>
            </a:r>
            <a:r>
              <a:rPr b="1" sz="880">
                <a:solidFill>
                  <a:srgbClr val="0B132B"/>
                </a:solidFill>
              </a:rPr>
              <a:t>NSQF progression awareness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66490" y="2688336"/>
            <a:ext cx="2523744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39642" y="2743200"/>
            <a:ext cx="2377440" cy="36576"/>
          </a:xfrm>
          <a:prstGeom prst="round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4506" y="2834640"/>
            <a:ext cx="457200" cy="457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106570" y="2825496"/>
            <a:ext cx="17922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50">
                <a:solidFill>
                  <a:srgbClr val="0B132B"/>
                </a:solidFill>
              </a:rPr>
              <a:t>02 — PARENTS &amp; FAMILIES
</a:t>
            </a:r>
            <a:r>
              <a:rPr b="1" sz="750">
                <a:solidFill>
                  <a:srgbClr val="0B132B"/>
                </a:solidFill>
              </a:rPr>
              <a:t>Trust &amp; Informed Decisions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94506" y="3346704"/>
            <a:ext cx="22677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94506" y="3465576"/>
            <a:ext cx="22677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b="1" sz="950">
                <a:solidFill>
                  <a:srgbClr val="0B132B"/>
                </a:solidFill>
              </a:rPr>
              <a:t>• </a:t>
            </a:r>
            <a:r>
              <a:rPr b="1" sz="880">
                <a:solidFill>
                  <a:srgbClr val="0B132B"/>
                </a:solidFill>
              </a:rPr>
              <a:t>Evidence-backed confidence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0B132B"/>
                </a:solidFill>
              </a:rPr>
              <a:t>• </a:t>
            </a:r>
            <a:r>
              <a:rPr b="1" sz="880">
                <a:solidFill>
                  <a:srgbClr val="0B132B"/>
                </a:solidFill>
              </a:rPr>
              <a:t>Shared family decisions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01460" y="2688336"/>
            <a:ext cx="2523744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74612" y="2743200"/>
            <a:ext cx="2377440" cy="3657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9476" y="2834640"/>
            <a:ext cx="457200" cy="4572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841540" y="2825496"/>
            <a:ext cx="17922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50">
                <a:solidFill>
                  <a:srgbClr val="0B132B"/>
                </a:solidFill>
              </a:rPr>
              <a:t>03 — TRAINING INSTITUTIONS
</a:t>
            </a:r>
            <a:r>
              <a:rPr b="1" sz="750">
                <a:solidFill>
                  <a:srgbClr val="0284C7"/>
                </a:solidFill>
              </a:rPr>
              <a:t>Better-Informed Enrolment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29476" y="3346704"/>
            <a:ext cx="22677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9476" y="3465576"/>
            <a:ext cx="22677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b="1" sz="950">
                <a:solidFill>
                  <a:srgbClr val="0284C7"/>
                </a:solidFill>
              </a:rPr>
              <a:t>• </a:t>
            </a:r>
            <a:r>
              <a:rPr b="1" sz="880">
                <a:solidFill>
                  <a:srgbClr val="0B132B"/>
                </a:solidFill>
              </a:rPr>
              <a:t>Better-informed applicants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0284C7"/>
                </a:solidFill>
              </a:rPr>
              <a:t>• </a:t>
            </a:r>
            <a:r>
              <a:rPr b="1" sz="880">
                <a:solidFill>
                  <a:srgbClr val="0B132B"/>
                </a:solidFill>
              </a:rPr>
              <a:t>Potential retention improvement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36430" y="2688336"/>
            <a:ext cx="2523744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009582" y="2743200"/>
            <a:ext cx="2377440" cy="3657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4446" y="2834640"/>
            <a:ext cx="457200" cy="4572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576510" y="2825496"/>
            <a:ext cx="17922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50">
                <a:solidFill>
                  <a:srgbClr val="0B132B"/>
                </a:solidFill>
              </a:rPr>
              <a:t>04 — GOVERNMENT / MSDE
</a:t>
            </a:r>
            <a:r>
              <a:rPr b="1" sz="750">
                <a:solidFill>
                  <a:srgbClr val="0F766E"/>
                </a:solidFill>
              </a:rPr>
              <a:t>Data-Driven Skilling Decisions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64446" y="3346704"/>
            <a:ext cx="22677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64446" y="3465576"/>
            <a:ext cx="22677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</a:pPr>
            <a:r>
              <a:rPr b="1" sz="950">
                <a:solidFill>
                  <a:srgbClr val="0F766E"/>
                </a:solidFill>
              </a:rPr>
              <a:t>• </a:t>
            </a:r>
            <a:r>
              <a:rPr b="1" sz="880">
                <a:solidFill>
                  <a:srgbClr val="0B132B"/>
                </a:solidFill>
              </a:rPr>
              <a:t>Regional resistance insights (participating families)</a:t>
            </a:r>
          </a:p>
          <a:p>
            <a:pPr>
              <a:spcAft>
                <a:spcPts val="700"/>
              </a:spcAft>
            </a:pPr>
            <a:r>
              <a:rPr b="1" sz="950">
                <a:solidFill>
                  <a:srgbClr val="0F766E"/>
                </a:solidFill>
              </a:rPr>
              <a:t>• </a:t>
            </a:r>
            <a:r>
              <a:rPr b="1" sz="880">
                <a:solidFill>
                  <a:srgbClr val="0B132B"/>
                </a:solidFill>
              </a:rPr>
              <a:t>Targeted counselling outreach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4517136"/>
            <a:ext cx="1072865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0B132B"/>
                </a:solidFill>
              </a:rPr>
              <a:t>SECTION 3: PROPOSED IMPACT PATHWAY</a:t>
            </a:r>
            <a:r>
              <a:rPr sz="800" i="1">
                <a:solidFill>
                  <a:srgbClr val="0D9488"/>
                </a:solidFill>
              </a:rPr>
              <a:t>   [ Sustainable Impact from Family Decision to Economic Growth 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4773168"/>
            <a:ext cx="2331720" cy="566928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00">
                <a:solidFill>
                  <a:srgbClr val="0F766E"/>
                </a:solidFill>
              </a:rPr>
              <a:t>Family Confidence  </a:t>
            </a:r>
            <a:r>
              <a:rPr sz="720">
                <a:solidFill>
                  <a:srgbClr val="475569"/>
                </a:solidFill>
              </a:rPr>
              <a:t>(STEP 1)
</a:t>
            </a:r>
            <a:r>
              <a:rPr sz="720">
                <a:solidFill>
                  <a:srgbClr val="0B132B"/>
                </a:solidFill>
              </a:rPr>
              <a:t>Joint dialogue helps families discuss concerns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4910328"/>
            <a:ext cx="283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0D9488"/>
                </a:solidFill>
              </a:rPr>
              <a:t>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529584" y="4773168"/>
            <a:ext cx="2331720" cy="56692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00">
                <a:solidFill>
                  <a:srgbClr val="075985"/>
                </a:solidFill>
              </a:rPr>
              <a:t>Informed Enrolment  </a:t>
            </a:r>
            <a:r>
              <a:rPr sz="720">
                <a:solidFill>
                  <a:srgbClr val="475569"/>
                </a:solidFill>
              </a:rPr>
              <a:t>(STEP 2)
</a:t>
            </a:r>
            <a:r>
              <a:rPr sz="720">
                <a:solidFill>
                  <a:srgbClr val="0B132B"/>
                </a:solidFill>
              </a:rPr>
              <a:t>Learners choose verified vocational tracks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52744" y="4910328"/>
            <a:ext cx="283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0D9488"/>
                </a:solidFill>
              </a:rPr>
              <a:t>➔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27648" y="4773168"/>
            <a:ext cx="2331720" cy="56692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00">
                <a:solidFill>
                  <a:srgbClr val="166534"/>
                </a:solidFill>
              </a:rPr>
              <a:t>Improved Retention  </a:t>
            </a:r>
            <a:r>
              <a:rPr sz="720">
                <a:solidFill>
                  <a:srgbClr val="475569"/>
                </a:solidFill>
              </a:rPr>
              <a:t>(STEP 3)
</a:t>
            </a:r>
            <a:r>
              <a:rPr sz="720">
                <a:solidFill>
                  <a:srgbClr val="0B132B"/>
                </a:solidFill>
              </a:rPr>
              <a:t>Family backing supports course completion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50808" y="4910328"/>
            <a:ext cx="283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400">
                <a:solidFill>
                  <a:srgbClr val="0D9488"/>
                </a:solidFill>
              </a:rPr>
              <a:t>➔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25712" y="4773168"/>
            <a:ext cx="2331720" cy="566928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00">
                <a:solidFill>
                  <a:srgbClr val="0F766E"/>
                </a:solidFill>
              </a:rPr>
              <a:t>Skilled Workforce  </a:t>
            </a:r>
            <a:r>
              <a:rPr sz="720">
                <a:solidFill>
                  <a:srgbClr val="475569"/>
                </a:solidFill>
              </a:rPr>
              <a:t>(STEP 4)
</a:t>
            </a:r>
            <a:r>
              <a:rPr sz="720">
                <a:solidFill>
                  <a:srgbClr val="0B132B"/>
                </a:solidFill>
              </a:rPr>
              <a:t>Employable, certified youth for industry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5541264"/>
            <a:ext cx="10728655" cy="4572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i="1" b="1" sz="1100">
                <a:solidFill>
                  <a:srgbClr val="0B132B"/>
                </a:solidFill>
                <a:latin typeface="Georgia"/>
              </a:rPr>
              <a:t>“ SkillSaathi empowers not just individual learners, but the </a:t>
            </a:r>
            <a:r>
              <a:rPr i="1" b="1" sz="1100">
                <a:solidFill>
                  <a:srgbClr val="0F766E"/>
                </a:solidFill>
                <a:latin typeface="Georgia"/>
              </a:rPr>
              <a:t>families shaping their futures.</a:t>
            </a:r>
            <a:r>
              <a:rPr b="1" sz="1150">
                <a:solidFill>
                  <a:srgbClr val="0B132B"/>
                </a:solidFill>
                <a:latin typeface="Georgia"/>
              </a:rPr>
              <a:t> ”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ounded Rectangle 11"/>
          <p:cNvSpPr/>
          <p:nvPr/>
        </p:nvSpPr>
        <p:spPr>
          <a:xfrm>
            <a:off x="731520" y="292608"/>
            <a:ext cx="1508760" cy="3840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32B"/>
                </a:solidFill>
              </a:rPr>
              <a:t>TeamChargers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56032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B132B"/>
                </a:solidFill>
                <a:latin typeface="Georgia"/>
              </a:rPr>
              <a:t>RESEARCH AND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31520"/>
            <a:ext cx="7772400" cy="32918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000">
                <a:solidFill>
                  <a:srgbClr val="0F766E"/>
                </a:solidFill>
              </a:rPr>
              <a:t>Foundational Policy &amp; Academic Frameworks — </a:t>
            </a:r>
            <a:r>
              <a:rPr sz="950">
                <a:solidFill>
                  <a:srgbClr val="475569"/>
                </a:solidFill>
              </a:rPr>
              <a:t>Grounding SkillSaathi's vocational taxonomies, wage baselines, and family mediation models in verified standards.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078992"/>
            <a:ext cx="70408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B132B"/>
                </a:solidFill>
              </a:rPr>
              <a:t>SECTION 1: OFFICIAL FRAMEWORKS &amp; RESEARCH REFERENCES</a:t>
            </a:r>
            <a:r>
              <a:rPr sz="850" i="1">
                <a:solidFill>
                  <a:srgbClr val="0D9488"/>
                </a:solidFill>
              </a:rPr>
              <a:t>   [ IEEE Citation Format 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335024"/>
            <a:ext cx="70408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1444752"/>
            <a:ext cx="420624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73152"/>
          <a:lstStyle/>
          <a:p>
            <a:pPr algn="ctr"/>
            <a:r>
              <a:rPr b="1" sz="1000">
                <a:solidFill>
                  <a:srgbClr val="0F766E"/>
                </a:solidFill>
              </a:rPr>
              <a:t>[1]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5024" y="1380744"/>
            <a:ext cx="6327648" cy="5120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50"/>
              </a:spcAft>
            </a:pPr>
            <a:r>
              <a:rPr b="1" sz="980">
                <a:solidFill>
                  <a:srgbClr val="0B132B"/>
                </a:solidFill>
              </a:rPr>
              <a:t>National Council for Vocational Education and Training, </a:t>
            </a:r>
            <a:r>
              <a:rPr b="1" sz="980">
                <a:solidFill>
                  <a:srgbClr val="0F766E"/>
                </a:solidFill>
              </a:rPr>
              <a:t>“National Skills Qualification Framework (NSQF),” </a:t>
            </a:r>
            <a:r>
              <a:rPr sz="750" i="1">
                <a:solidFill>
                  <a:srgbClr val="64748B"/>
                </a:solidFill>
              </a:rPr>
              <a:t>  (NCrF-Aligned Qualification Levels &amp; Progression)</a:t>
            </a:r>
          </a:p>
          <a:p>
            <a:r>
              <a:rPr sz="880">
                <a:solidFill>
                  <a:srgbClr val="475569"/>
                </a:solidFill>
              </a:rPr>
              <a:t>NCVET, Ministry of Skill Development and Entrepreneurship, Govt. of India. [Online]. Available: </a:t>
            </a:r>
            <a:r>
              <a:rPr sz="880" u="sng">
                <a:solidFill>
                  <a:srgbClr val="0284C7"/>
                </a:solidFill>
                <a:hlinkClick r:id="rId4"/>
              </a:rPr>
              <a:t>https://ncvet.gov.in/national-skills-qualification-framework/</a:t>
            </a:r>
            <a:r>
              <a:rPr sz="819" i="1">
                <a:solidFill>
                  <a:srgbClr val="475569"/>
                </a:solidFill>
              </a:rPr>
              <a:t> [Accessed: Oct. 19, 2026].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011680"/>
            <a:ext cx="70408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2121408"/>
            <a:ext cx="420624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73152"/>
          <a:lstStyle/>
          <a:p>
            <a:pPr algn="ctr"/>
            <a:r>
              <a:rPr b="1" sz="1000">
                <a:solidFill>
                  <a:srgbClr val="0F766E"/>
                </a:solidFill>
              </a:rPr>
              <a:t>[2]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2057400"/>
            <a:ext cx="6327648" cy="5120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50"/>
              </a:spcAft>
            </a:pPr>
            <a:r>
              <a:rPr b="1" sz="980">
                <a:solidFill>
                  <a:srgbClr val="0B132B"/>
                </a:solidFill>
              </a:rPr>
              <a:t>Ministry of Skill Development and Entrepreneurship, </a:t>
            </a:r>
            <a:r>
              <a:rPr b="1" sz="980">
                <a:solidFill>
                  <a:srgbClr val="0F766E"/>
                </a:solidFill>
              </a:rPr>
              <a:t>“Ministry of Skill Development and Entrepreneurship,” </a:t>
            </a:r>
            <a:r>
              <a:rPr sz="750" i="1">
                <a:solidFill>
                  <a:srgbClr val="64748B"/>
                </a:solidFill>
              </a:rPr>
              <a:t>  (National Vocational Policies &amp; Scheme Mandates)</a:t>
            </a:r>
          </a:p>
          <a:p>
            <a:r>
              <a:rPr sz="880">
                <a:solidFill>
                  <a:srgbClr val="475569"/>
                </a:solidFill>
              </a:rPr>
              <a:t>Government of India. [Online]. Available: </a:t>
            </a:r>
            <a:r>
              <a:rPr sz="880" u="sng">
                <a:solidFill>
                  <a:srgbClr val="0284C7"/>
                </a:solidFill>
                <a:hlinkClick r:id="rId5"/>
              </a:rPr>
              <a:t>https://www.msde.gov.in/</a:t>
            </a:r>
            <a:r>
              <a:rPr sz="819" i="1">
                <a:solidFill>
                  <a:srgbClr val="475569"/>
                </a:solidFill>
              </a:rPr>
              <a:t> [Accessed: Oct. 19, 2026].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688336"/>
            <a:ext cx="70408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2798064"/>
            <a:ext cx="420624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73152"/>
          <a:lstStyle/>
          <a:p>
            <a:pPr algn="ctr"/>
            <a:r>
              <a:rPr b="1" sz="1000">
                <a:solidFill>
                  <a:srgbClr val="0F766E"/>
                </a:solidFill>
              </a:rPr>
              <a:t>[3]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024" y="2734056"/>
            <a:ext cx="6327648" cy="5120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50"/>
              </a:spcAft>
            </a:pPr>
            <a:r>
              <a:rPr b="1" sz="980">
                <a:solidFill>
                  <a:srgbClr val="0B132B"/>
                </a:solidFill>
              </a:rPr>
              <a:t>Directorate General of Training, </a:t>
            </a:r>
            <a:r>
              <a:rPr b="1" sz="980">
                <a:solidFill>
                  <a:srgbClr val="0F766E"/>
                </a:solidFill>
              </a:rPr>
              <a:t>“Craftsmen Training Scheme (CTS),” </a:t>
            </a:r>
            <a:r>
              <a:rPr sz="750" i="1">
                <a:solidFill>
                  <a:srgbClr val="64748B"/>
                </a:solidFill>
              </a:rPr>
              <a:t>  (ITI Vocational Trades &amp; Training Framework)</a:t>
            </a:r>
          </a:p>
          <a:p>
            <a:r>
              <a:rPr sz="880">
                <a:solidFill>
                  <a:srgbClr val="475569"/>
                </a:solidFill>
              </a:rPr>
              <a:t>Government of India. [Online]. Available: </a:t>
            </a:r>
            <a:r>
              <a:rPr sz="880" u="sng">
                <a:solidFill>
                  <a:srgbClr val="0284C7"/>
                </a:solidFill>
                <a:hlinkClick r:id="rId6"/>
              </a:rPr>
              <a:t>https://dgt.gov.in/en/CTS</a:t>
            </a:r>
            <a:r>
              <a:rPr sz="819" i="1">
                <a:solidFill>
                  <a:srgbClr val="475569"/>
                </a:solidFill>
              </a:rPr>
              <a:t> [Accessed: Oct. 19, 2026].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364992"/>
            <a:ext cx="70408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3474720"/>
            <a:ext cx="420624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73152"/>
          <a:lstStyle/>
          <a:p>
            <a:pPr algn="ctr"/>
            <a:r>
              <a:rPr b="1" sz="1000">
                <a:solidFill>
                  <a:srgbClr val="0F766E"/>
                </a:solidFill>
              </a:rPr>
              <a:t>[4]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3410712"/>
            <a:ext cx="6327648" cy="5120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50"/>
              </a:spcAft>
            </a:pPr>
            <a:r>
              <a:rPr b="1" sz="980">
                <a:solidFill>
                  <a:srgbClr val="0B132B"/>
                </a:solidFill>
              </a:rPr>
              <a:t>Directorate General of Employment, </a:t>
            </a:r>
            <a:r>
              <a:rPr b="1" sz="980">
                <a:solidFill>
                  <a:srgbClr val="0F766E"/>
                </a:solidFill>
              </a:rPr>
              <a:t>“National Career Service,” </a:t>
            </a:r>
            <a:r>
              <a:rPr sz="750" i="1">
                <a:solidFill>
                  <a:srgbClr val="64748B"/>
                </a:solidFill>
              </a:rPr>
              <a:t>  (Career Information &amp; Employment Services)</a:t>
            </a:r>
          </a:p>
          <a:p>
            <a:r>
              <a:rPr sz="880">
                <a:solidFill>
                  <a:srgbClr val="475569"/>
                </a:solidFill>
              </a:rPr>
              <a:t>Ministry of Labour and Employment, Government of India. [Online]. Available: </a:t>
            </a:r>
            <a:r>
              <a:rPr sz="880" u="sng">
                <a:solidFill>
                  <a:srgbClr val="0284C7"/>
                </a:solidFill>
                <a:hlinkClick r:id="rId7"/>
              </a:rPr>
              <a:t>https://www.ncs.gov.in/</a:t>
            </a:r>
            <a:r>
              <a:rPr sz="819" i="1">
                <a:solidFill>
                  <a:srgbClr val="475569"/>
                </a:solidFill>
              </a:rPr>
              <a:t> [Accessed: Oct. 19, 2026].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041648"/>
            <a:ext cx="70408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4151376"/>
            <a:ext cx="420624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73152"/>
          <a:lstStyle/>
          <a:p>
            <a:pPr algn="ctr"/>
            <a:r>
              <a:rPr b="1" sz="1000">
                <a:solidFill>
                  <a:srgbClr val="0F766E"/>
                </a:solidFill>
              </a:rPr>
              <a:t>[5]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5024" y="4087368"/>
            <a:ext cx="6327648" cy="5120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50"/>
              </a:spcAft>
            </a:pPr>
            <a:r>
              <a:rPr b="1" sz="980">
                <a:solidFill>
                  <a:srgbClr val="0B132B"/>
                </a:solidFill>
              </a:rPr>
              <a:t>Directorate General of Training, </a:t>
            </a:r>
            <a:r>
              <a:rPr b="1" sz="980">
                <a:solidFill>
                  <a:srgbClr val="0F766E"/>
                </a:solidFill>
              </a:rPr>
              <a:t>“Bharat Skills,” </a:t>
            </a:r>
            <a:r>
              <a:rPr sz="750" i="1">
                <a:solidFill>
                  <a:srgbClr val="64748B"/>
                </a:solidFill>
              </a:rPr>
              <a:t>  (Trade Learning Resources &amp; Question Banks)</a:t>
            </a:r>
          </a:p>
          <a:p>
            <a:r>
              <a:rPr sz="880">
                <a:solidFill>
                  <a:srgbClr val="475569"/>
                </a:solidFill>
              </a:rPr>
              <a:t>Ministry of Skill Development and Entrepreneurship, Government of India. [Online]. Available: </a:t>
            </a:r>
            <a:r>
              <a:rPr sz="880" u="sng">
                <a:solidFill>
                  <a:srgbClr val="0284C7"/>
                </a:solidFill>
                <a:hlinkClick r:id="rId13"/>
              </a:rPr>
              <a:t>https://bharatskills.gov.in/</a:t>
            </a:r>
            <a:r>
              <a:rPr sz="819" i="1">
                <a:solidFill>
                  <a:srgbClr val="475569"/>
                </a:solidFill>
              </a:rPr>
              <a:t> [Accessed: Oct. 19, 2026].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718304"/>
            <a:ext cx="704088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4828032"/>
            <a:ext cx="420624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73152"/>
          <a:lstStyle/>
          <a:p>
            <a:pPr algn="ctr"/>
            <a:r>
              <a:rPr b="1" sz="1000">
                <a:solidFill>
                  <a:srgbClr val="0F766E"/>
                </a:solidFill>
              </a:rPr>
              <a:t>[6]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5024" y="4764024"/>
            <a:ext cx="6327648" cy="5120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50"/>
              </a:spcAft>
            </a:pPr>
            <a:r>
              <a:rPr b="1" sz="980">
                <a:solidFill>
                  <a:srgbClr val="0B132B"/>
                </a:solidFill>
              </a:rPr>
              <a:t>J. Dietrich and B. Kracke, </a:t>
            </a:r>
            <a:r>
              <a:rPr b="1" sz="980">
                <a:solidFill>
                  <a:srgbClr val="0F766E"/>
                </a:solidFill>
              </a:rPr>
              <a:t>“Career-specific parental behaviors in adolescents’ development,” </a:t>
            </a:r>
            <a:r>
              <a:rPr sz="750" i="1">
                <a:solidFill>
                  <a:srgbClr val="64748B"/>
                </a:solidFill>
              </a:rPr>
              <a:t>  (Parental Influence on Career Decisions — Academic Research)</a:t>
            </a:r>
          </a:p>
          <a:p>
            <a:r>
              <a:rPr sz="880">
                <a:solidFill>
                  <a:srgbClr val="475569"/>
                </a:solidFill>
              </a:rPr>
              <a:t>Journal of Vocational Behavior, vol. 75, no. 2, pp. 109–119, 2009. doi: </a:t>
            </a:r>
            <a:r>
              <a:rPr sz="880" u="sng">
                <a:solidFill>
                  <a:srgbClr val="0284C7"/>
                </a:solidFill>
                <a:hlinkClick r:id="rId12"/>
              </a:rPr>
              <a:t>https://doi.org/10.1016/j.jvb.2009.03.005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431" y="1078992"/>
            <a:ext cx="3429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B132B"/>
                </a:solidFill>
              </a:rPr>
              <a:t>SECTION 2: DATA GROUNDING ARCHITECTURE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8431" y="1335024"/>
            <a:ext cx="3429000" cy="39867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56448" y="1444752"/>
            <a:ext cx="3172968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7888" y="1591056"/>
            <a:ext cx="384048" cy="5029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705088" y="1499616"/>
            <a:ext cx="25420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880">
                <a:solidFill>
                  <a:srgbClr val="0B132B"/>
                </a:solidFill>
              </a:rPr>
              <a:t>OFFICIAL GOVERNMENT SOURCES
</a:t>
            </a:r>
            <a:r>
              <a:rPr b="1" sz="780">
                <a:solidFill>
                  <a:srgbClr val="0F766E"/>
                </a:solidFill>
              </a:rPr>
              <a:t>NCVET • MSDE • DGT • NCS • Bharat Skills
</a:t>
            </a:r>
            <a:r>
              <a:rPr sz="720">
                <a:solidFill>
                  <a:srgbClr val="475569"/>
                </a:solidFill>
              </a:rPr>
              <a:t>Target sources for verified qualification information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2295144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300">
                <a:solidFill>
                  <a:srgbClr val="0D9488"/>
                </a:solidFill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56448" y="2523744"/>
            <a:ext cx="3172968" cy="87782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47888" y="2688336"/>
            <a:ext cx="402336" cy="5029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705088" y="2578608"/>
            <a:ext cx="2542032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880">
                <a:solidFill>
                  <a:srgbClr val="0B132B"/>
                </a:solidFill>
              </a:rPr>
              <a:t>CURATED VOCATIONAL INFORMATION
</a:t>
            </a:r>
            <a:r>
              <a:rPr sz="730">
                <a:solidFill>
                  <a:srgbClr val="475569"/>
                </a:solidFill>
              </a:rPr>
              <a:t>• NCrF-aligned qualification standards &amp; levels
• CTS vocational trade curricula &amp; duration
• Career profiles &amp; employment demand indicators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341071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300">
                <a:solidFill>
                  <a:srgbClr val="0D9488"/>
                </a:solidFill>
              </a:rPr>
              <a:t>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56448" y="3639312"/>
            <a:ext cx="3172968" cy="100584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7888" y="3877056"/>
            <a:ext cx="402336" cy="40233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705088" y="3694176"/>
            <a:ext cx="254203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880">
                <a:solidFill>
                  <a:srgbClr val="0F766E"/>
                </a:solidFill>
              </a:rPr>
              <a:t>PROPOSED SKILLSAATHI AI GUIDANCE
</a:t>
            </a:r>
            <a:r>
              <a:rPr sz="730">
                <a:solidFill>
                  <a:srgbClr val="0B132B"/>
                </a:solidFill>
              </a:rPr>
              <a:t>• Evidence-grounded guidance using verified frameworks
• Structured family trade-off &amp; consensus analysis
• Local mock/demo data utilized in current prototype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56448" y="4718304"/>
            <a:ext cx="3172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i="1" sz="700">
                <a:solidFill>
                  <a:srgbClr val="64748B"/>
                </a:solidFill>
              </a:rPr>
              <a:t>Note: Target integration sources for production rollout.
Current prototype utilizes local mock/demo data.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522976"/>
            <a:ext cx="10728655" cy="4572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0584" wrap="none"/>
          <a:lstStyle/>
          <a:p>
            <a:pPr algn="ctr"/>
            <a:r>
              <a:rPr b="1" sz="980">
                <a:solidFill>
                  <a:srgbClr val="0B132B"/>
                </a:solidFill>
                <a:latin typeface="Georgia"/>
              </a:rPr>
              <a:t>“ SkillSaathi prioritizes verified government frameworks and evidence-grounded recommendations </a:t>
            </a:r>
            <a:r>
              <a:rPr b="1" sz="980">
                <a:solidFill>
                  <a:srgbClr val="0F766E"/>
                </a:solidFill>
                <a:latin typeface="Georgia"/>
              </a:rPr>
              <a:t>to improve the reliability of vocational career guidance. ”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